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0042"/>
    <a:srgbClr val="860046"/>
    <a:srgbClr val="60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9" autoAdjust="0"/>
    <p:restoredTop sz="94660"/>
  </p:normalViewPr>
  <p:slideViewPr>
    <p:cSldViewPr snapToGrid="0">
      <p:cViewPr varScale="1">
        <p:scale>
          <a:sx n="91" d="100"/>
          <a:sy n="91" d="100"/>
        </p:scale>
        <p:origin x="90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1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61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93" y="1709738"/>
            <a:ext cx="10617157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293" y="4589463"/>
            <a:ext cx="106171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5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2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3903"/>
            <a:ext cx="52203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737063"/>
            <a:ext cx="5220335" cy="34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39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37063"/>
            <a:ext cx="5183188" cy="34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4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1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9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2226364"/>
            <a:ext cx="3994785" cy="36426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4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20" y="457200"/>
            <a:ext cx="405400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8020" y="2250218"/>
            <a:ext cx="4054006" cy="361876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26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0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7240" y="365125"/>
            <a:ext cx="77952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3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D62DB5A-5AA0-4E7E-94AB-AD20F02CA8DF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086ECE-EF43-4B07-9DD0-59679471A067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106375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2" y="1825625"/>
            <a:ext cx="10637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2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657AA7F-BE72-4467-897E-7A302F46504F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7156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2586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15" r:id="rId7"/>
    <p:sldLayoutId id="2147483716" r:id="rId8"/>
    <p:sldLayoutId id="2147483723" r:id="rId9"/>
    <p:sldLayoutId id="2147483714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ssemZakher" TargetMode="External"/><Relationship Id="rId2" Type="http://schemas.openxmlformats.org/officeDocument/2006/relationships/hyperlink" Target="https://www.linkedin.com/in/bassem-zakh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04CF648-5CB3-49E4-BE34-8A059890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69E559C-09DA-4586-86C9-F3C05D9A0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ECDC7A-DE93-7EED-57C1-CC55F8DA5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4556" y="430306"/>
            <a:ext cx="5901868" cy="2930245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Tinder Stratégie : </a:t>
            </a:r>
            <a:br>
              <a:rPr lang="fr-FR" b="1" dirty="0"/>
            </a:br>
            <a:r>
              <a:rPr lang="fr-FR" b="1" dirty="0"/>
              <a:t>Le Paradoxe du "Say vs. Do".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48CC95B-382B-679D-C4C9-45822FC07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681" y="3602038"/>
            <a:ext cx="4893617" cy="915297"/>
          </a:xfrm>
        </p:spPr>
        <p:txBody>
          <a:bodyPr>
            <a:normAutofit/>
          </a:bodyPr>
          <a:lstStyle/>
          <a:p>
            <a:r>
              <a:rPr lang="fr-FR" dirty="0"/>
              <a:t>Analyse de + 4 000 interactions pour décoder les moteurs de l'attraction.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ED0EEA0-F821-4F0C-B78E-25855FBB4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0" cy="3429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7" name="Graphic 1036">
            <a:extLst>
              <a:ext uri="{FF2B5EF4-FFF2-40B4-BE49-F238E27FC236}">
                <a16:creationId xmlns:a16="http://schemas.microsoft.com/office/drawing/2014/main" id="{14548BC0-162E-4107-81DF-7389BF82F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429000" cy="3429000"/>
          </a:xfrm>
          <a:prstGeom prst="rect">
            <a:avLst/>
          </a:prstGeom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32C5BC4-015B-41F9-B453-DBEC7124E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3000" y="0"/>
            <a:ext cx="3429000" cy="3429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C9C47-482A-0D19-1FDC-08BBF4061A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209" r="12042" b="2"/>
          <a:stretch>
            <a:fillRect/>
          </a:stretch>
        </p:blipFill>
        <p:spPr>
          <a:xfrm>
            <a:off x="8764800" y="10"/>
            <a:ext cx="3427200" cy="3427190"/>
          </a:xfrm>
          <a:prstGeom prst="rect">
            <a:avLst/>
          </a:prstGeom>
        </p:spPr>
      </p:pic>
      <p:sp>
        <p:nvSpPr>
          <p:cNvPr id="1041" name="Rectangle 1040">
            <a:extLst>
              <a:ext uri="{FF2B5EF4-FFF2-40B4-BE49-F238E27FC236}">
                <a16:creationId xmlns:a16="http://schemas.microsoft.com/office/drawing/2014/main" id="{9D6650AA-9995-401C-A354-276AB7A38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7200"/>
            <a:ext cx="3430800" cy="34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ond Le Graphique Rendu En 3d Illustre Lanalyse Statistique Des Données ...">
            <a:extLst>
              <a:ext uri="{FF2B5EF4-FFF2-40B4-BE49-F238E27FC236}">
                <a16:creationId xmlns:a16="http://schemas.microsoft.com/office/drawing/2014/main" id="{3E0B7C8C-9B72-2603-D958-95D82632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2" r="36516" b="-3"/>
          <a:stretch>
            <a:fillRect/>
          </a:stretch>
        </p:blipFill>
        <p:spPr bwMode="auto">
          <a:xfrm>
            <a:off x="346182" y="3660657"/>
            <a:ext cx="2789782" cy="2789782"/>
          </a:xfrm>
          <a:custGeom>
            <a:avLst/>
            <a:gdLst/>
            <a:ahLst/>
            <a:cxnLst/>
            <a:rect l="l" t="t" r="r" b="b"/>
            <a:pathLst>
              <a:path w="3375124" h="3375124">
                <a:moveTo>
                  <a:pt x="1687562" y="0"/>
                </a:moveTo>
                <a:cubicBezTo>
                  <a:pt x="2619577" y="0"/>
                  <a:pt x="3375124" y="755547"/>
                  <a:pt x="3375124" y="1687562"/>
                </a:cubicBezTo>
                <a:cubicBezTo>
                  <a:pt x="3375124" y="2619577"/>
                  <a:pt x="2619577" y="3375124"/>
                  <a:pt x="1687562" y="3375124"/>
                </a:cubicBezTo>
                <a:cubicBezTo>
                  <a:pt x="755547" y="3375124"/>
                  <a:pt x="0" y="2619577"/>
                  <a:pt x="0" y="1687562"/>
                </a:cubicBezTo>
                <a:cubicBezTo>
                  <a:pt x="0" y="755547"/>
                  <a:pt x="755547" y="0"/>
                  <a:pt x="168756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D0A4853-EC6F-4CC5-A9EC-F91612C6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200" y="3427200"/>
            <a:ext cx="3430800" cy="34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5" name="Graphic 1044">
            <a:extLst>
              <a:ext uri="{FF2B5EF4-FFF2-40B4-BE49-F238E27FC236}">
                <a16:creationId xmlns:a16="http://schemas.microsoft.com/office/drawing/2014/main" id="{DF2AA3CE-B974-48CA-96E0-5573A78E3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7754" y="3424500"/>
            <a:ext cx="3429000" cy="3429000"/>
          </a:xfrm>
          <a:prstGeom prst="rect">
            <a:avLst/>
          </a:prstGeom>
        </p:spPr>
      </p:pic>
      <p:sp>
        <p:nvSpPr>
          <p:cNvPr id="5" name="Sous-titre 2">
            <a:extLst>
              <a:ext uri="{FF2B5EF4-FFF2-40B4-BE49-F238E27FC236}">
                <a16:creationId xmlns:a16="http://schemas.microsoft.com/office/drawing/2014/main" id="{ADA99CC2-352A-397E-97AC-1B70FE92408B}"/>
              </a:ext>
            </a:extLst>
          </p:cNvPr>
          <p:cNvSpPr txBox="1">
            <a:spLocks/>
          </p:cNvSpPr>
          <p:nvPr/>
        </p:nvSpPr>
        <p:spPr>
          <a:xfrm>
            <a:off x="3638680" y="5535142"/>
            <a:ext cx="4893617" cy="915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i="1" dirty="0"/>
              <a:t>Présenté par : ZAKHER Bassem </a:t>
            </a:r>
          </a:p>
          <a:p>
            <a:r>
              <a:rPr lang="fr-FR" sz="1600" i="1" dirty="0"/>
              <a:t>Le 00/02/2026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489488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30B8DD-2817-3B2A-E6B4-5D38DF7FC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57" y="493988"/>
            <a:ext cx="10935886" cy="1921666"/>
          </a:xfrm>
        </p:spPr>
        <p:txBody>
          <a:bodyPr anchor="ctr">
            <a:normAutofit/>
          </a:bodyPr>
          <a:lstStyle/>
          <a:p>
            <a:pPr algn="ctr"/>
            <a:r>
              <a:rPr lang="fr-FR" sz="4400" b="1" dirty="0"/>
              <a:t>Introduction &amp; Enjeu Business</a:t>
            </a: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EF300891-CE2F-820D-6C5E-1DE5F7AFE4F9}"/>
              </a:ext>
            </a:extLst>
          </p:cNvPr>
          <p:cNvSpPr/>
          <p:nvPr/>
        </p:nvSpPr>
        <p:spPr>
          <a:xfrm>
            <a:off x="777875" y="2743200"/>
            <a:ext cx="9040812" cy="1030128"/>
          </a:xfrm>
          <a:custGeom>
            <a:avLst/>
            <a:gdLst>
              <a:gd name="csX0" fmla="*/ 0 w 9040812"/>
              <a:gd name="csY0" fmla="*/ 103013 h 1030128"/>
              <a:gd name="csX1" fmla="*/ 103013 w 9040812"/>
              <a:gd name="csY1" fmla="*/ 0 h 1030128"/>
              <a:gd name="csX2" fmla="*/ 8937799 w 9040812"/>
              <a:gd name="csY2" fmla="*/ 0 h 1030128"/>
              <a:gd name="csX3" fmla="*/ 9040812 w 9040812"/>
              <a:gd name="csY3" fmla="*/ 103013 h 1030128"/>
              <a:gd name="csX4" fmla="*/ 9040812 w 9040812"/>
              <a:gd name="csY4" fmla="*/ 927115 h 1030128"/>
              <a:gd name="csX5" fmla="*/ 8937799 w 9040812"/>
              <a:gd name="csY5" fmla="*/ 1030128 h 1030128"/>
              <a:gd name="csX6" fmla="*/ 103013 w 9040812"/>
              <a:gd name="csY6" fmla="*/ 1030128 h 1030128"/>
              <a:gd name="csX7" fmla="*/ 0 w 9040812"/>
              <a:gd name="csY7" fmla="*/ 927115 h 1030128"/>
              <a:gd name="csX8" fmla="*/ 0 w 9040812"/>
              <a:gd name="csY8" fmla="*/ 103013 h 1030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040812" h="1030128">
                <a:moveTo>
                  <a:pt x="0" y="103013"/>
                </a:moveTo>
                <a:cubicBezTo>
                  <a:pt x="0" y="46120"/>
                  <a:pt x="46120" y="0"/>
                  <a:pt x="103013" y="0"/>
                </a:cubicBezTo>
                <a:lnTo>
                  <a:pt x="8937799" y="0"/>
                </a:lnTo>
                <a:cubicBezTo>
                  <a:pt x="8994692" y="0"/>
                  <a:pt x="9040812" y="46120"/>
                  <a:pt x="9040812" y="103013"/>
                </a:cubicBezTo>
                <a:lnTo>
                  <a:pt x="9040812" y="927115"/>
                </a:lnTo>
                <a:cubicBezTo>
                  <a:pt x="9040812" y="984008"/>
                  <a:pt x="8994692" y="1030128"/>
                  <a:pt x="8937799" y="1030128"/>
                </a:cubicBezTo>
                <a:lnTo>
                  <a:pt x="103013" y="1030128"/>
                </a:lnTo>
                <a:cubicBezTo>
                  <a:pt x="46120" y="1030128"/>
                  <a:pt x="0" y="984008"/>
                  <a:pt x="0" y="927115"/>
                </a:cubicBezTo>
                <a:lnTo>
                  <a:pt x="0" y="10301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611" tIns="121611" rIns="1172858" bIns="12161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400" b="1" i="0" kern="1200" baseline="0" dirty="0"/>
              <a:t>Contexte</a:t>
            </a:r>
            <a:endParaRPr lang="fr-FR" sz="2400" b="0" i="0" kern="1200" baseline="0" dirty="0"/>
          </a:p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000" b="0" i="0" kern="1200" baseline="0" dirty="0"/>
              <a:t>Marché du dating saturé, baisse de l'engagement (matches).</a:t>
            </a:r>
            <a:endParaRPr lang="en-US" sz="2000" kern="1200" dirty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AF2E0982-13A5-8C6F-407A-E50A646AE307}"/>
              </a:ext>
            </a:extLst>
          </p:cNvPr>
          <p:cNvSpPr/>
          <p:nvPr/>
        </p:nvSpPr>
        <p:spPr>
          <a:xfrm>
            <a:off x="1575593" y="3945017"/>
            <a:ext cx="9040812" cy="1030128"/>
          </a:xfrm>
          <a:custGeom>
            <a:avLst/>
            <a:gdLst>
              <a:gd name="csX0" fmla="*/ 0 w 9040812"/>
              <a:gd name="csY0" fmla="*/ 103013 h 1030128"/>
              <a:gd name="csX1" fmla="*/ 103013 w 9040812"/>
              <a:gd name="csY1" fmla="*/ 0 h 1030128"/>
              <a:gd name="csX2" fmla="*/ 8937799 w 9040812"/>
              <a:gd name="csY2" fmla="*/ 0 h 1030128"/>
              <a:gd name="csX3" fmla="*/ 9040812 w 9040812"/>
              <a:gd name="csY3" fmla="*/ 103013 h 1030128"/>
              <a:gd name="csX4" fmla="*/ 9040812 w 9040812"/>
              <a:gd name="csY4" fmla="*/ 927115 h 1030128"/>
              <a:gd name="csX5" fmla="*/ 8937799 w 9040812"/>
              <a:gd name="csY5" fmla="*/ 1030128 h 1030128"/>
              <a:gd name="csX6" fmla="*/ 103013 w 9040812"/>
              <a:gd name="csY6" fmla="*/ 1030128 h 1030128"/>
              <a:gd name="csX7" fmla="*/ 0 w 9040812"/>
              <a:gd name="csY7" fmla="*/ 927115 h 1030128"/>
              <a:gd name="csX8" fmla="*/ 0 w 9040812"/>
              <a:gd name="csY8" fmla="*/ 103013 h 1030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040812" h="1030128">
                <a:moveTo>
                  <a:pt x="0" y="103013"/>
                </a:moveTo>
                <a:cubicBezTo>
                  <a:pt x="0" y="46120"/>
                  <a:pt x="46120" y="0"/>
                  <a:pt x="103013" y="0"/>
                </a:cubicBezTo>
                <a:lnTo>
                  <a:pt x="8937799" y="0"/>
                </a:lnTo>
                <a:cubicBezTo>
                  <a:pt x="8994692" y="0"/>
                  <a:pt x="9040812" y="46120"/>
                  <a:pt x="9040812" y="103013"/>
                </a:cubicBezTo>
                <a:lnTo>
                  <a:pt x="9040812" y="927115"/>
                </a:lnTo>
                <a:cubicBezTo>
                  <a:pt x="9040812" y="984008"/>
                  <a:pt x="8994692" y="1030128"/>
                  <a:pt x="8937799" y="1030128"/>
                </a:cubicBezTo>
                <a:lnTo>
                  <a:pt x="103013" y="1030128"/>
                </a:lnTo>
                <a:cubicBezTo>
                  <a:pt x="46120" y="1030128"/>
                  <a:pt x="0" y="984008"/>
                  <a:pt x="0" y="927115"/>
                </a:cubicBezTo>
                <a:lnTo>
                  <a:pt x="0" y="10301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616256"/>
              <a:satOff val="-6307"/>
              <a:lumOff val="2746"/>
              <a:alphaOff val="0"/>
            </a:schemeClr>
          </a:fillRef>
          <a:effectRef idx="0">
            <a:schemeClr val="accent5">
              <a:hueOff val="-616256"/>
              <a:satOff val="-6307"/>
              <a:lumOff val="274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611" tIns="121611" rIns="1588914" bIns="12161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400" b="1" i="0" kern="1200" baseline="0" dirty="0"/>
              <a:t>Objectif</a:t>
            </a:r>
            <a:endParaRPr lang="fr-FR" sz="2800" b="1" i="0" kern="1200" baseline="0" dirty="0"/>
          </a:p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000" b="0" i="0" kern="1200" baseline="0" dirty="0"/>
              <a:t>Identifier les vrais leviers de décision pour optimiser les algorithmes.</a:t>
            </a:r>
            <a:endParaRPr lang="en-US" sz="2000" kern="1200" dirty="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2561A01F-8840-81D1-78E9-7D560A9ACFCB}"/>
              </a:ext>
            </a:extLst>
          </p:cNvPr>
          <p:cNvSpPr/>
          <p:nvPr/>
        </p:nvSpPr>
        <p:spPr>
          <a:xfrm>
            <a:off x="2373312" y="5146834"/>
            <a:ext cx="9040812" cy="1030128"/>
          </a:xfrm>
          <a:custGeom>
            <a:avLst/>
            <a:gdLst>
              <a:gd name="csX0" fmla="*/ 0 w 9040812"/>
              <a:gd name="csY0" fmla="*/ 103013 h 1030128"/>
              <a:gd name="csX1" fmla="*/ 103013 w 9040812"/>
              <a:gd name="csY1" fmla="*/ 0 h 1030128"/>
              <a:gd name="csX2" fmla="*/ 8937799 w 9040812"/>
              <a:gd name="csY2" fmla="*/ 0 h 1030128"/>
              <a:gd name="csX3" fmla="*/ 9040812 w 9040812"/>
              <a:gd name="csY3" fmla="*/ 103013 h 1030128"/>
              <a:gd name="csX4" fmla="*/ 9040812 w 9040812"/>
              <a:gd name="csY4" fmla="*/ 927115 h 1030128"/>
              <a:gd name="csX5" fmla="*/ 8937799 w 9040812"/>
              <a:gd name="csY5" fmla="*/ 1030128 h 1030128"/>
              <a:gd name="csX6" fmla="*/ 103013 w 9040812"/>
              <a:gd name="csY6" fmla="*/ 1030128 h 1030128"/>
              <a:gd name="csX7" fmla="*/ 0 w 9040812"/>
              <a:gd name="csY7" fmla="*/ 927115 h 1030128"/>
              <a:gd name="csX8" fmla="*/ 0 w 9040812"/>
              <a:gd name="csY8" fmla="*/ 103013 h 1030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040812" h="1030128">
                <a:moveTo>
                  <a:pt x="0" y="103013"/>
                </a:moveTo>
                <a:cubicBezTo>
                  <a:pt x="0" y="46120"/>
                  <a:pt x="46120" y="0"/>
                  <a:pt x="103013" y="0"/>
                </a:cubicBezTo>
                <a:lnTo>
                  <a:pt x="8937799" y="0"/>
                </a:lnTo>
                <a:cubicBezTo>
                  <a:pt x="8994692" y="0"/>
                  <a:pt x="9040812" y="46120"/>
                  <a:pt x="9040812" y="103013"/>
                </a:cubicBezTo>
                <a:lnTo>
                  <a:pt x="9040812" y="927115"/>
                </a:lnTo>
                <a:cubicBezTo>
                  <a:pt x="9040812" y="984008"/>
                  <a:pt x="8994692" y="1030128"/>
                  <a:pt x="8937799" y="1030128"/>
                </a:cubicBezTo>
                <a:lnTo>
                  <a:pt x="103013" y="1030128"/>
                </a:lnTo>
                <a:cubicBezTo>
                  <a:pt x="46120" y="1030128"/>
                  <a:pt x="0" y="984008"/>
                  <a:pt x="0" y="927115"/>
                </a:cubicBezTo>
                <a:lnTo>
                  <a:pt x="0" y="10301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1232511"/>
              <a:satOff val="-12614"/>
              <a:lumOff val="5491"/>
              <a:alphaOff val="0"/>
            </a:schemeClr>
          </a:fillRef>
          <a:effectRef idx="0">
            <a:schemeClr val="accent5">
              <a:hueOff val="-1232511"/>
              <a:satOff val="-12614"/>
              <a:lumOff val="54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611" tIns="121611" rIns="1588914" bIns="12161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400" b="1" i="0" kern="1200" baseline="0" dirty="0"/>
              <a:t>Question centrale</a:t>
            </a:r>
          </a:p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b="0" i="0" kern="1200" baseline="0" dirty="0"/>
              <a:t>Sommes-nous rationnels dans nos choix amoureux ?</a:t>
            </a:r>
            <a:endParaRPr lang="en-US" sz="2300" kern="1200" dirty="0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3B4F7DDE-9523-40CB-C0F1-9DD495D2BD52}"/>
              </a:ext>
            </a:extLst>
          </p:cNvPr>
          <p:cNvSpPr/>
          <p:nvPr/>
        </p:nvSpPr>
        <p:spPr>
          <a:xfrm>
            <a:off x="9149103" y="3524381"/>
            <a:ext cx="669583" cy="669583"/>
          </a:xfrm>
          <a:custGeom>
            <a:avLst/>
            <a:gdLst>
              <a:gd name="csX0" fmla="*/ 0 w 669583"/>
              <a:gd name="csY0" fmla="*/ 368271 h 669583"/>
              <a:gd name="csX1" fmla="*/ 150656 w 669583"/>
              <a:gd name="csY1" fmla="*/ 368271 h 669583"/>
              <a:gd name="csX2" fmla="*/ 150656 w 669583"/>
              <a:gd name="csY2" fmla="*/ 0 h 669583"/>
              <a:gd name="csX3" fmla="*/ 518927 w 669583"/>
              <a:gd name="csY3" fmla="*/ 0 h 669583"/>
              <a:gd name="csX4" fmla="*/ 518927 w 669583"/>
              <a:gd name="csY4" fmla="*/ 368271 h 669583"/>
              <a:gd name="csX5" fmla="*/ 669583 w 669583"/>
              <a:gd name="csY5" fmla="*/ 368271 h 669583"/>
              <a:gd name="csX6" fmla="*/ 334792 w 669583"/>
              <a:gd name="csY6" fmla="*/ 669583 h 669583"/>
              <a:gd name="csX7" fmla="*/ 0 w 669583"/>
              <a:gd name="csY7" fmla="*/ 368271 h 669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69583" h="669583">
                <a:moveTo>
                  <a:pt x="0" y="368271"/>
                </a:moveTo>
                <a:lnTo>
                  <a:pt x="150656" y="368271"/>
                </a:lnTo>
                <a:lnTo>
                  <a:pt x="150656" y="0"/>
                </a:lnTo>
                <a:lnTo>
                  <a:pt x="518927" y="0"/>
                </a:lnTo>
                <a:lnTo>
                  <a:pt x="518927" y="368271"/>
                </a:lnTo>
                <a:lnTo>
                  <a:pt x="669583" y="368271"/>
                </a:lnTo>
                <a:lnTo>
                  <a:pt x="334792" y="669583"/>
                </a:lnTo>
                <a:lnTo>
                  <a:pt x="0" y="368271"/>
                </a:lnTo>
                <a:close/>
              </a:path>
            </a:pathLst>
          </a:custGeom>
        </p:spPr>
        <p:style>
          <a:lnRef idx="2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756" tIns="38100" rIns="188756" bIns="203822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000" kern="120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92C76451-A03A-1F3D-D69B-C8F0E2F4FE96}"/>
              </a:ext>
            </a:extLst>
          </p:cNvPr>
          <p:cNvSpPr/>
          <p:nvPr/>
        </p:nvSpPr>
        <p:spPr>
          <a:xfrm>
            <a:off x="9946822" y="4719330"/>
            <a:ext cx="669583" cy="669583"/>
          </a:xfrm>
          <a:custGeom>
            <a:avLst/>
            <a:gdLst>
              <a:gd name="csX0" fmla="*/ 0 w 669583"/>
              <a:gd name="csY0" fmla="*/ 368271 h 669583"/>
              <a:gd name="csX1" fmla="*/ 150656 w 669583"/>
              <a:gd name="csY1" fmla="*/ 368271 h 669583"/>
              <a:gd name="csX2" fmla="*/ 150656 w 669583"/>
              <a:gd name="csY2" fmla="*/ 0 h 669583"/>
              <a:gd name="csX3" fmla="*/ 518927 w 669583"/>
              <a:gd name="csY3" fmla="*/ 0 h 669583"/>
              <a:gd name="csX4" fmla="*/ 518927 w 669583"/>
              <a:gd name="csY4" fmla="*/ 368271 h 669583"/>
              <a:gd name="csX5" fmla="*/ 669583 w 669583"/>
              <a:gd name="csY5" fmla="*/ 368271 h 669583"/>
              <a:gd name="csX6" fmla="*/ 334792 w 669583"/>
              <a:gd name="csY6" fmla="*/ 669583 h 669583"/>
              <a:gd name="csX7" fmla="*/ 0 w 669583"/>
              <a:gd name="csY7" fmla="*/ 368271 h 669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69583" h="669583">
                <a:moveTo>
                  <a:pt x="0" y="368271"/>
                </a:moveTo>
                <a:lnTo>
                  <a:pt x="150656" y="368271"/>
                </a:lnTo>
                <a:lnTo>
                  <a:pt x="150656" y="0"/>
                </a:lnTo>
                <a:lnTo>
                  <a:pt x="518927" y="0"/>
                </a:lnTo>
                <a:lnTo>
                  <a:pt x="518927" y="368271"/>
                </a:lnTo>
                <a:lnTo>
                  <a:pt x="669583" y="368271"/>
                </a:lnTo>
                <a:lnTo>
                  <a:pt x="334792" y="669583"/>
                </a:lnTo>
                <a:lnTo>
                  <a:pt x="0" y="368271"/>
                </a:lnTo>
                <a:close/>
              </a:path>
            </a:pathLst>
          </a:custGeom>
        </p:spPr>
        <p:style>
          <a:lnRef idx="2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alpha val="90000"/>
              <a:hueOff val="-914095"/>
              <a:satOff val="-14695"/>
              <a:lumOff val="-139"/>
              <a:alphaOff val="0"/>
            </a:schemeClr>
          </a:fillRef>
          <a:effectRef idx="0">
            <a:schemeClr val="accent5">
              <a:tint val="40000"/>
              <a:alpha val="90000"/>
              <a:hueOff val="-914095"/>
              <a:satOff val="-14695"/>
              <a:lumOff val="-139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756" tIns="38100" rIns="188756" bIns="203822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000" kern="1200"/>
          </a:p>
        </p:txBody>
      </p:sp>
    </p:spTree>
    <p:extLst>
      <p:ext uri="{BB962C8B-B14F-4D97-AF65-F5344CB8AC3E}">
        <p14:creationId xmlns:p14="http://schemas.microsoft.com/office/powerpoint/2010/main" val="15170755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1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0279B9-31B5-5863-4826-832CB815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4" y="230037"/>
            <a:ext cx="5129841" cy="1313068"/>
          </a:xfrm>
        </p:spPr>
        <p:txBody>
          <a:bodyPr anchor="b">
            <a:noAutofit/>
          </a:bodyPr>
          <a:lstStyle/>
          <a:p>
            <a:r>
              <a:rPr lang="fr-FR" sz="4400" b="1" dirty="0"/>
              <a:t>Data Engineering : </a:t>
            </a:r>
            <a:br>
              <a:rPr lang="fr-FR" sz="4400" b="1" dirty="0"/>
            </a:br>
            <a:r>
              <a:rPr lang="fr-FR" sz="4400" b="1" dirty="0"/>
              <a:t>Fiabiliser l'analyse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6A0F4E-33F8-5131-5411-0D7B0AA603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703" y="1633803"/>
            <a:ext cx="5129841" cy="49941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Le défi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: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 jeu de données était </a:t>
            </a:r>
            <a:r>
              <a:rPr kumimoji="0" lang="fr-FR" altLang="fr-FR" sz="2000" b="1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sale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: 195 variables, des IDs manquants (</a:t>
            </a:r>
            <a:r>
              <a:rPr kumimoji="0" lang="fr-FR" altLang="fr-FR" sz="2000" b="1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Wave</a:t>
            </a:r>
            <a:r>
              <a:rPr kumimoji="0" lang="fr-FR" altLang="fr-FR" sz="2000" b="1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5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et </a:t>
            </a:r>
            <a:r>
              <a:rPr kumimoji="0" lang="fr-FR" altLang="fr-FR" sz="2000" b="0" i="0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beaucoup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vide.</a:t>
            </a:r>
            <a:endParaRPr lang="fr-FR" altLang="fr-FR" sz="20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endParaRPr kumimoji="0" lang="fr-FR" altLang="fr-F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L'action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: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Audit d'intégrité, gestion de la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sparsité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2000" b="1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&gt;15%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et réparation des relations entre participants.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endParaRPr kumimoji="0" lang="fr-FR" altLang="fr-F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Message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: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kumimoji="0" lang="fr-FR" altLang="fr-FR" sz="20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 priorité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garantir des fondations saines pour des conclusions robustes.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61DE1A-F39F-46D4-BA9A-9DAB77A48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2199" y="0"/>
            <a:ext cx="6859801" cy="3429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F6941715-1072-540C-30E9-79B470BFF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278" y="748023"/>
            <a:ext cx="6383984" cy="193115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6105A24-81C0-4B45-99A5-311F3B74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2199" y="3427200"/>
            <a:ext cx="3430800" cy="34308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ersonne jouant à un jeu de société">
            <a:extLst>
              <a:ext uri="{FF2B5EF4-FFF2-40B4-BE49-F238E27FC236}">
                <a16:creationId xmlns:a16="http://schemas.microsoft.com/office/drawing/2014/main" id="{2117A7F6-C694-65F1-F7BE-FAA3D0E94D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64" r="11135" b="-1"/>
          <a:stretch>
            <a:fillRect/>
          </a:stretch>
        </p:blipFill>
        <p:spPr>
          <a:xfrm>
            <a:off x="5566278" y="3676228"/>
            <a:ext cx="2934559" cy="293454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3B21356-601F-4761-B3FB-16E3D4A5C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200" y="3427200"/>
            <a:ext cx="3430800" cy="34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004EF464-0C9E-4D7E-B8B3-865285819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7754" y="34272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145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060413-AC56-BFD9-0FFC-36DBDE8D4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07" y="404647"/>
            <a:ext cx="4459295" cy="13232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/>
              <a:t>Le </a:t>
            </a:r>
            <a:r>
              <a:rPr lang="en-US" sz="4400" b="1" dirty="0" err="1"/>
              <a:t>Paradoxe</a:t>
            </a:r>
            <a:br>
              <a:rPr lang="en-US" sz="4400" b="1" dirty="0"/>
            </a:br>
            <a:r>
              <a:rPr lang="en-US" sz="4400" b="1" dirty="0"/>
              <a:t>"Say vs Do"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887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Espace réservé du contenu 28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E992B96C-23BB-4A2D-2F01-4E58D55DC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670" y="186654"/>
            <a:ext cx="6840608" cy="37210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grpSp>
        <p:nvGrpSpPr>
          <p:cNvPr id="42" name="Groupe 41">
            <a:extLst>
              <a:ext uri="{FF2B5EF4-FFF2-40B4-BE49-F238E27FC236}">
                <a16:creationId xmlns:a16="http://schemas.microsoft.com/office/drawing/2014/main" id="{85FD9B79-FD75-8830-D9B6-56732648765C}"/>
              </a:ext>
            </a:extLst>
          </p:cNvPr>
          <p:cNvGrpSpPr/>
          <p:nvPr/>
        </p:nvGrpSpPr>
        <p:grpSpPr>
          <a:xfrm>
            <a:off x="145852" y="1779329"/>
            <a:ext cx="4908412" cy="2368080"/>
            <a:chOff x="145852" y="1779329"/>
            <a:chExt cx="4908412" cy="2368080"/>
          </a:xfrm>
        </p:grpSpPr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DF4287C9-75A2-D447-D417-E2EEFEC119D1}"/>
                </a:ext>
              </a:extLst>
            </p:cNvPr>
            <p:cNvSpPr/>
            <p:nvPr/>
          </p:nvSpPr>
          <p:spPr>
            <a:xfrm>
              <a:off x="145852" y="2118809"/>
              <a:ext cx="4908412" cy="2028600"/>
            </a:xfrm>
            <a:custGeom>
              <a:avLst/>
              <a:gdLst>
                <a:gd name="csX0" fmla="*/ 0 w 4908412"/>
                <a:gd name="csY0" fmla="*/ 0 h 2028600"/>
                <a:gd name="csX1" fmla="*/ 4908412 w 4908412"/>
                <a:gd name="csY1" fmla="*/ 0 h 2028600"/>
                <a:gd name="csX2" fmla="*/ 4908412 w 4908412"/>
                <a:gd name="csY2" fmla="*/ 2028600 h 2028600"/>
                <a:gd name="csX3" fmla="*/ 0 w 4908412"/>
                <a:gd name="csY3" fmla="*/ 2028600 h 2028600"/>
                <a:gd name="csX4" fmla="*/ 0 w 4908412"/>
                <a:gd name="csY4" fmla="*/ 0 h 20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908412" h="2028600">
                  <a:moveTo>
                    <a:pt x="0" y="0"/>
                  </a:moveTo>
                  <a:lnTo>
                    <a:pt x="4908412" y="0"/>
                  </a:lnTo>
                  <a:lnTo>
                    <a:pt x="4908412" y="2028600"/>
                  </a:lnTo>
                  <a:lnTo>
                    <a:pt x="0" y="20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0947" tIns="479044" rIns="380947" bIns="14224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2000" b="0" i="0" kern="1200" baseline="0" noProof="0" dirty="0"/>
                <a:t>Le discours (</a:t>
              </a:r>
              <a:r>
                <a:rPr lang="fr-FR" sz="2000" b="1" i="1" kern="1200" baseline="0" noProof="0" dirty="0"/>
                <a:t>SAY</a:t>
              </a:r>
              <a:r>
                <a:rPr lang="fr-FR" sz="2000" b="0" i="0" kern="1200" baseline="0" noProof="0" dirty="0"/>
                <a:t>) veut l'intelligence. La réalité (</a:t>
              </a:r>
              <a:r>
                <a:rPr lang="fr-FR" sz="2000" b="1" i="1" kern="1200" baseline="0" noProof="0" dirty="0"/>
                <a:t>DO</a:t>
              </a:r>
              <a:r>
                <a:rPr lang="fr-FR" sz="2000" b="0" i="0" kern="1200" baseline="0" noProof="0" dirty="0"/>
                <a:t>) impose l'attractivité comme </a:t>
              </a:r>
              <a:r>
                <a:rPr lang="fr-FR" sz="2000" b="1" i="0" kern="1200" baseline="0" noProof="0" dirty="0" err="1"/>
                <a:t>gatekeeper</a:t>
              </a:r>
              <a:r>
                <a:rPr lang="fr-FR" sz="2000" b="0" i="0" kern="1200" baseline="0" noProof="0" dirty="0"/>
                <a:t>. En dessous de </a:t>
              </a:r>
              <a:r>
                <a:rPr lang="fr-FR" sz="2000" b="1" i="1" kern="1200" baseline="0" noProof="0" dirty="0"/>
                <a:t>6/10</a:t>
              </a:r>
              <a:r>
                <a:rPr lang="fr-FR" sz="2000" b="0" i="0" kern="1200" baseline="0" noProof="0" dirty="0"/>
                <a:t>, la probabilité de match est quasi nulle.</a:t>
              </a:r>
              <a:endParaRPr lang="fr-FR" sz="2000" kern="1200" noProof="0" dirty="0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FF504F3A-D178-3C4C-C88F-5CDD2D72592D}"/>
                </a:ext>
              </a:extLst>
            </p:cNvPr>
            <p:cNvSpPr/>
            <p:nvPr/>
          </p:nvSpPr>
          <p:spPr>
            <a:xfrm>
              <a:off x="391272" y="1779329"/>
              <a:ext cx="3435888" cy="678960"/>
            </a:xfrm>
            <a:custGeom>
              <a:avLst/>
              <a:gdLst>
                <a:gd name="csX0" fmla="*/ 0 w 3435888"/>
                <a:gd name="csY0" fmla="*/ 113162 h 678960"/>
                <a:gd name="csX1" fmla="*/ 113162 w 3435888"/>
                <a:gd name="csY1" fmla="*/ 0 h 678960"/>
                <a:gd name="csX2" fmla="*/ 3322726 w 3435888"/>
                <a:gd name="csY2" fmla="*/ 0 h 678960"/>
                <a:gd name="csX3" fmla="*/ 3435888 w 3435888"/>
                <a:gd name="csY3" fmla="*/ 113162 h 678960"/>
                <a:gd name="csX4" fmla="*/ 3435888 w 3435888"/>
                <a:gd name="csY4" fmla="*/ 565798 h 678960"/>
                <a:gd name="csX5" fmla="*/ 3322726 w 3435888"/>
                <a:gd name="csY5" fmla="*/ 678960 h 678960"/>
                <a:gd name="csX6" fmla="*/ 113162 w 3435888"/>
                <a:gd name="csY6" fmla="*/ 678960 h 678960"/>
                <a:gd name="csX7" fmla="*/ 0 w 3435888"/>
                <a:gd name="csY7" fmla="*/ 565798 h 678960"/>
                <a:gd name="csX8" fmla="*/ 0 w 3435888"/>
                <a:gd name="csY8" fmla="*/ 113162 h 678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35888" h="678960">
                  <a:moveTo>
                    <a:pt x="0" y="113162"/>
                  </a:moveTo>
                  <a:cubicBezTo>
                    <a:pt x="0" y="50664"/>
                    <a:pt x="50664" y="0"/>
                    <a:pt x="113162" y="0"/>
                  </a:cubicBezTo>
                  <a:lnTo>
                    <a:pt x="3322726" y="0"/>
                  </a:lnTo>
                  <a:cubicBezTo>
                    <a:pt x="3385224" y="0"/>
                    <a:pt x="3435888" y="50664"/>
                    <a:pt x="3435888" y="113162"/>
                  </a:cubicBezTo>
                  <a:lnTo>
                    <a:pt x="3435888" y="565798"/>
                  </a:lnTo>
                  <a:cubicBezTo>
                    <a:pt x="3435888" y="628296"/>
                    <a:pt x="3385224" y="678960"/>
                    <a:pt x="3322726" y="678960"/>
                  </a:cubicBezTo>
                  <a:lnTo>
                    <a:pt x="113162" y="678960"/>
                  </a:lnTo>
                  <a:cubicBezTo>
                    <a:pt x="50664" y="678960"/>
                    <a:pt x="0" y="628296"/>
                    <a:pt x="0" y="565798"/>
                  </a:cubicBezTo>
                  <a:lnTo>
                    <a:pt x="0" y="11316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012" tIns="33144" rIns="163012" bIns="33144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2400" b="1" i="0" kern="1200" baseline="0" dirty="0" err="1"/>
                <a:t>L'insight</a:t>
              </a:r>
              <a:r>
                <a:rPr lang="en-US" sz="2400" b="0" i="0" kern="1200" baseline="0" dirty="0"/>
                <a:t> : </a:t>
              </a:r>
              <a:endParaRPr lang="en-US" sz="2400" b="1" i="0" kern="1200" baseline="0" dirty="0"/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5B478EE0-1EFB-3648-E35F-2E93CE9A1F98}"/>
              </a:ext>
            </a:extLst>
          </p:cNvPr>
          <p:cNvGrpSpPr/>
          <p:nvPr/>
        </p:nvGrpSpPr>
        <p:grpSpPr>
          <a:xfrm>
            <a:off x="145852" y="4271609"/>
            <a:ext cx="4908412" cy="2078280"/>
            <a:chOff x="145852" y="4271609"/>
            <a:chExt cx="4908412" cy="2078280"/>
          </a:xfrm>
        </p:grpSpPr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65F65D8C-2D37-6357-C7BE-4D4641539C83}"/>
                </a:ext>
              </a:extLst>
            </p:cNvPr>
            <p:cNvSpPr/>
            <p:nvPr/>
          </p:nvSpPr>
          <p:spPr>
            <a:xfrm>
              <a:off x="145852" y="4611089"/>
              <a:ext cx="4908412" cy="1738800"/>
            </a:xfrm>
            <a:custGeom>
              <a:avLst/>
              <a:gdLst>
                <a:gd name="csX0" fmla="*/ 0 w 4908412"/>
                <a:gd name="csY0" fmla="*/ 0 h 1738800"/>
                <a:gd name="csX1" fmla="*/ 4908412 w 4908412"/>
                <a:gd name="csY1" fmla="*/ 0 h 1738800"/>
                <a:gd name="csX2" fmla="*/ 4908412 w 4908412"/>
                <a:gd name="csY2" fmla="*/ 1738800 h 1738800"/>
                <a:gd name="csX3" fmla="*/ 0 w 4908412"/>
                <a:gd name="csY3" fmla="*/ 1738800 h 1738800"/>
                <a:gd name="csX4" fmla="*/ 0 w 4908412"/>
                <a:gd name="csY4" fmla="*/ 0 h 1738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908412" h="1738800">
                  <a:moveTo>
                    <a:pt x="0" y="0"/>
                  </a:moveTo>
                  <a:lnTo>
                    <a:pt x="4908412" y="0"/>
                  </a:lnTo>
                  <a:lnTo>
                    <a:pt x="4908412" y="1738800"/>
                  </a:lnTo>
                  <a:lnTo>
                    <a:pt x="0" y="1738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-1232511"/>
                <a:satOff val="-12614"/>
                <a:lumOff val="5491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0947" tIns="479044" rIns="380947" bIns="14224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2000" kern="1200" noProof="0" dirty="0"/>
                <a:t>Corrélation record pour l'attractivité (</a:t>
              </a:r>
              <a:r>
                <a:rPr lang="fr-FR" sz="2000" b="1" i="1" kern="1200" noProof="0" dirty="0"/>
                <a:t>r=0.49</a:t>
              </a:r>
              <a:r>
                <a:rPr lang="fr-FR" sz="2000" kern="1200" noProof="0" dirty="0"/>
                <a:t>), quasi-nulle pour les intérêts partagés </a:t>
              </a:r>
              <a:r>
                <a:rPr lang="fr-FR" sz="2000" b="1" i="1" kern="1200" noProof="0" dirty="0"/>
                <a:t>(0,031)</a:t>
              </a:r>
              <a:r>
                <a:rPr lang="fr-FR" sz="2000" kern="1200" noProof="0" dirty="0"/>
                <a:t> ou la religion (</a:t>
              </a:r>
              <a:r>
                <a:rPr lang="fr-FR" sz="2000" b="1" i="1" kern="1200" noProof="0" dirty="0"/>
                <a:t>-0,026</a:t>
              </a:r>
              <a:r>
                <a:rPr lang="fr-FR" sz="2000" kern="1200" noProof="0" dirty="0"/>
                <a:t>).</a:t>
              </a:r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394F5CD7-9997-37AF-CC87-02CC4D596BC1}"/>
                </a:ext>
              </a:extLst>
            </p:cNvPr>
            <p:cNvSpPr/>
            <p:nvPr/>
          </p:nvSpPr>
          <p:spPr>
            <a:xfrm>
              <a:off x="391272" y="4271609"/>
              <a:ext cx="3435888" cy="678960"/>
            </a:xfrm>
            <a:custGeom>
              <a:avLst/>
              <a:gdLst>
                <a:gd name="csX0" fmla="*/ 0 w 3435888"/>
                <a:gd name="csY0" fmla="*/ 113162 h 678960"/>
                <a:gd name="csX1" fmla="*/ 113162 w 3435888"/>
                <a:gd name="csY1" fmla="*/ 0 h 678960"/>
                <a:gd name="csX2" fmla="*/ 3322726 w 3435888"/>
                <a:gd name="csY2" fmla="*/ 0 h 678960"/>
                <a:gd name="csX3" fmla="*/ 3435888 w 3435888"/>
                <a:gd name="csY3" fmla="*/ 113162 h 678960"/>
                <a:gd name="csX4" fmla="*/ 3435888 w 3435888"/>
                <a:gd name="csY4" fmla="*/ 565798 h 678960"/>
                <a:gd name="csX5" fmla="*/ 3322726 w 3435888"/>
                <a:gd name="csY5" fmla="*/ 678960 h 678960"/>
                <a:gd name="csX6" fmla="*/ 113162 w 3435888"/>
                <a:gd name="csY6" fmla="*/ 678960 h 678960"/>
                <a:gd name="csX7" fmla="*/ 0 w 3435888"/>
                <a:gd name="csY7" fmla="*/ 565798 h 678960"/>
                <a:gd name="csX8" fmla="*/ 0 w 3435888"/>
                <a:gd name="csY8" fmla="*/ 113162 h 678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35888" h="678960">
                  <a:moveTo>
                    <a:pt x="0" y="113162"/>
                  </a:moveTo>
                  <a:cubicBezTo>
                    <a:pt x="0" y="50664"/>
                    <a:pt x="50664" y="0"/>
                    <a:pt x="113162" y="0"/>
                  </a:cubicBezTo>
                  <a:lnTo>
                    <a:pt x="3322726" y="0"/>
                  </a:lnTo>
                  <a:cubicBezTo>
                    <a:pt x="3385224" y="0"/>
                    <a:pt x="3435888" y="50664"/>
                    <a:pt x="3435888" y="113162"/>
                  </a:cubicBezTo>
                  <a:lnTo>
                    <a:pt x="3435888" y="565798"/>
                  </a:lnTo>
                  <a:cubicBezTo>
                    <a:pt x="3435888" y="628296"/>
                    <a:pt x="3385224" y="678960"/>
                    <a:pt x="3322726" y="678960"/>
                  </a:cubicBezTo>
                  <a:lnTo>
                    <a:pt x="113162" y="678960"/>
                  </a:lnTo>
                  <a:cubicBezTo>
                    <a:pt x="50664" y="678960"/>
                    <a:pt x="0" y="628296"/>
                    <a:pt x="0" y="565798"/>
                  </a:cubicBezTo>
                  <a:lnTo>
                    <a:pt x="0" y="11316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-1232511"/>
                <a:satOff val="-12614"/>
                <a:lumOff val="5491"/>
                <a:alphaOff val="0"/>
              </a:schemeClr>
            </a:fillRef>
            <a:effectRef idx="3">
              <a:schemeClr val="accent5">
                <a:hueOff val="-1232511"/>
                <a:satOff val="-12614"/>
                <a:lumOff val="5491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012" tIns="33144" rIns="163012" bIns="33144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2400" b="1" kern="1200" dirty="0" err="1"/>
                <a:t>Preuve</a:t>
              </a:r>
              <a:r>
                <a:rPr lang="en-US" sz="2400" kern="1200" dirty="0"/>
                <a:t> : </a:t>
              </a:r>
            </a:p>
          </p:txBody>
        </p:sp>
      </p:grpSp>
      <p:pic>
        <p:nvPicPr>
          <p:cNvPr id="33" name="Image 32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02457DC2-C3FD-F166-F7FC-FFD0AFCFD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03" y="3847412"/>
            <a:ext cx="5806342" cy="28639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3692711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8AC3BA-0A69-1069-1F45-2FF29887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1" y="173930"/>
            <a:ext cx="10637518" cy="850831"/>
          </a:xfrm>
        </p:spPr>
        <p:txBody>
          <a:bodyPr/>
          <a:lstStyle/>
          <a:p>
            <a:pPr algn="ctr"/>
            <a:r>
              <a:rPr lang="fr-FR" dirty="0"/>
              <a:t>L'Ego Gap</a:t>
            </a:r>
          </a:p>
        </p:txBody>
      </p:sp>
      <p:pic>
        <p:nvPicPr>
          <p:cNvPr id="5" name="Espace réservé du contenu 4" descr="Une image contenant diagramm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AD2516B2-D0A7-46CB-60C5-2E17D8F63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8" t="13256" b="11758"/>
          <a:stretch>
            <a:fillRect/>
          </a:stretch>
        </p:blipFill>
        <p:spPr>
          <a:xfrm>
            <a:off x="1684683" y="1117215"/>
            <a:ext cx="8822636" cy="35324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6A07273-9D3D-72C2-6498-BEA18CD12664}"/>
              </a:ext>
            </a:extLst>
          </p:cNvPr>
          <p:cNvSpPr txBox="1"/>
          <p:nvPr/>
        </p:nvSpPr>
        <p:spPr>
          <a:xfrm>
            <a:off x="6229488" y="4114393"/>
            <a:ext cx="404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Self-Perception vs Partner’s Reality Check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44093A5-E121-D040-FE72-1647BAD55B9C}"/>
              </a:ext>
            </a:extLst>
          </p:cNvPr>
          <p:cNvGrpSpPr/>
          <p:nvPr/>
        </p:nvGrpSpPr>
        <p:grpSpPr>
          <a:xfrm>
            <a:off x="796061" y="4825388"/>
            <a:ext cx="4908412" cy="1357741"/>
            <a:chOff x="1048999" y="4787384"/>
            <a:chExt cx="4908412" cy="1357741"/>
          </a:xfrm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3D645A38-2167-8D46-8582-8CD1E8E46F82}"/>
                </a:ext>
              </a:extLst>
            </p:cNvPr>
            <p:cNvSpPr/>
            <p:nvPr/>
          </p:nvSpPr>
          <p:spPr>
            <a:xfrm>
              <a:off x="1048999" y="5067825"/>
              <a:ext cx="4908412" cy="1077300"/>
            </a:xfrm>
            <a:custGeom>
              <a:avLst/>
              <a:gdLst>
                <a:gd name="csX0" fmla="*/ 0 w 4908412"/>
                <a:gd name="csY0" fmla="*/ 0 h 1077300"/>
                <a:gd name="csX1" fmla="*/ 4908412 w 4908412"/>
                <a:gd name="csY1" fmla="*/ 0 h 1077300"/>
                <a:gd name="csX2" fmla="*/ 4908412 w 4908412"/>
                <a:gd name="csY2" fmla="*/ 1077300 h 1077300"/>
                <a:gd name="csX3" fmla="*/ 0 w 4908412"/>
                <a:gd name="csY3" fmla="*/ 1077300 h 1077300"/>
                <a:gd name="csX4" fmla="*/ 0 w 4908412"/>
                <a:gd name="csY4" fmla="*/ 0 h 1077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908412" h="1077300">
                  <a:moveTo>
                    <a:pt x="0" y="0"/>
                  </a:moveTo>
                  <a:lnTo>
                    <a:pt x="4908412" y="0"/>
                  </a:lnTo>
                  <a:lnTo>
                    <a:pt x="4908412" y="1077300"/>
                  </a:lnTo>
                  <a:lnTo>
                    <a:pt x="0" y="10773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0947" tIns="395732" rIns="380947" bIns="135128" numCol="1" spcCol="1270" anchor="t" anchorCtr="0">
              <a:noAutofit/>
            </a:bodyPr>
            <a:lstStyle/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1900" kern="1200" dirty="0"/>
                <a:t>Nous nous surévaluons de </a:t>
              </a:r>
              <a:r>
                <a:rPr lang="fr-FR" sz="1900" b="1" i="1" kern="1200" dirty="0"/>
                <a:t>0.7</a:t>
              </a:r>
              <a:r>
                <a:rPr lang="fr-FR" sz="1900" kern="1200" dirty="0"/>
                <a:t> point par rapport à la perception des autres.</a:t>
              </a:r>
              <a:endParaRPr lang="fr-FR" sz="1900" kern="1200" noProof="0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A4DF097A-2041-9340-ECEF-4596B279F31B}"/>
                </a:ext>
              </a:extLst>
            </p:cNvPr>
            <p:cNvSpPr/>
            <p:nvPr/>
          </p:nvSpPr>
          <p:spPr>
            <a:xfrm>
              <a:off x="1294419" y="4787384"/>
              <a:ext cx="3435888" cy="560880"/>
            </a:xfrm>
            <a:custGeom>
              <a:avLst/>
              <a:gdLst>
                <a:gd name="csX0" fmla="*/ 0 w 3435888"/>
                <a:gd name="csY0" fmla="*/ 93482 h 560880"/>
                <a:gd name="csX1" fmla="*/ 93482 w 3435888"/>
                <a:gd name="csY1" fmla="*/ 0 h 560880"/>
                <a:gd name="csX2" fmla="*/ 3342406 w 3435888"/>
                <a:gd name="csY2" fmla="*/ 0 h 560880"/>
                <a:gd name="csX3" fmla="*/ 3435888 w 3435888"/>
                <a:gd name="csY3" fmla="*/ 93482 h 560880"/>
                <a:gd name="csX4" fmla="*/ 3435888 w 3435888"/>
                <a:gd name="csY4" fmla="*/ 467398 h 560880"/>
                <a:gd name="csX5" fmla="*/ 3342406 w 3435888"/>
                <a:gd name="csY5" fmla="*/ 560880 h 560880"/>
                <a:gd name="csX6" fmla="*/ 93482 w 3435888"/>
                <a:gd name="csY6" fmla="*/ 560880 h 560880"/>
                <a:gd name="csX7" fmla="*/ 0 w 3435888"/>
                <a:gd name="csY7" fmla="*/ 467398 h 560880"/>
                <a:gd name="csX8" fmla="*/ 0 w 3435888"/>
                <a:gd name="csY8" fmla="*/ 93482 h 560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35888" h="560880">
                  <a:moveTo>
                    <a:pt x="0" y="93482"/>
                  </a:moveTo>
                  <a:cubicBezTo>
                    <a:pt x="0" y="41853"/>
                    <a:pt x="41853" y="0"/>
                    <a:pt x="93482" y="0"/>
                  </a:cubicBezTo>
                  <a:lnTo>
                    <a:pt x="3342406" y="0"/>
                  </a:lnTo>
                  <a:cubicBezTo>
                    <a:pt x="3394035" y="0"/>
                    <a:pt x="3435888" y="41853"/>
                    <a:pt x="3435888" y="93482"/>
                  </a:cubicBezTo>
                  <a:lnTo>
                    <a:pt x="3435888" y="467398"/>
                  </a:lnTo>
                  <a:cubicBezTo>
                    <a:pt x="3435888" y="519027"/>
                    <a:pt x="3394035" y="560880"/>
                    <a:pt x="3342406" y="560880"/>
                  </a:cubicBezTo>
                  <a:lnTo>
                    <a:pt x="93482" y="560880"/>
                  </a:lnTo>
                  <a:cubicBezTo>
                    <a:pt x="41853" y="560880"/>
                    <a:pt x="0" y="519027"/>
                    <a:pt x="0" y="467398"/>
                  </a:cubicBezTo>
                  <a:lnTo>
                    <a:pt x="0" y="9348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248" tIns="27380" rIns="157248" bIns="2738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900" b="1" i="0" kern="1200" baseline="0"/>
                <a:t>L'insight</a:t>
              </a:r>
              <a:r>
                <a:rPr lang="en-US" sz="1900" b="0" i="0" kern="1200" baseline="0"/>
                <a:t> : </a:t>
              </a:r>
              <a:endParaRPr lang="en-US" sz="1900" b="1" i="0" kern="1200" baseline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E660C46-97F0-B5E0-465A-0C14FEBB2373}"/>
              </a:ext>
            </a:extLst>
          </p:cNvPr>
          <p:cNvGrpSpPr/>
          <p:nvPr/>
        </p:nvGrpSpPr>
        <p:grpSpPr>
          <a:xfrm>
            <a:off x="6487527" y="4825388"/>
            <a:ext cx="4908412" cy="1896390"/>
            <a:chOff x="6740465" y="4656424"/>
            <a:chExt cx="4908412" cy="1896390"/>
          </a:xfrm>
        </p:grpSpPr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2B7BB088-19EC-85E4-98B4-20AD70C25ECE}"/>
                </a:ext>
              </a:extLst>
            </p:cNvPr>
            <p:cNvSpPr/>
            <p:nvPr/>
          </p:nvSpPr>
          <p:spPr>
            <a:xfrm>
              <a:off x="6740465" y="4936864"/>
              <a:ext cx="4908412" cy="1615950"/>
            </a:xfrm>
            <a:custGeom>
              <a:avLst/>
              <a:gdLst>
                <a:gd name="csX0" fmla="*/ 0 w 4908412"/>
                <a:gd name="csY0" fmla="*/ 0 h 1615950"/>
                <a:gd name="csX1" fmla="*/ 4908412 w 4908412"/>
                <a:gd name="csY1" fmla="*/ 0 h 1615950"/>
                <a:gd name="csX2" fmla="*/ 4908412 w 4908412"/>
                <a:gd name="csY2" fmla="*/ 1615950 h 1615950"/>
                <a:gd name="csX3" fmla="*/ 0 w 4908412"/>
                <a:gd name="csY3" fmla="*/ 1615950 h 1615950"/>
                <a:gd name="csX4" fmla="*/ 0 w 4908412"/>
                <a:gd name="csY4" fmla="*/ 0 h 1615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908412" h="1615950">
                  <a:moveTo>
                    <a:pt x="0" y="0"/>
                  </a:moveTo>
                  <a:lnTo>
                    <a:pt x="4908412" y="0"/>
                  </a:lnTo>
                  <a:lnTo>
                    <a:pt x="4908412" y="1615950"/>
                  </a:lnTo>
                  <a:lnTo>
                    <a:pt x="0" y="16159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-1232511"/>
                <a:satOff val="-12614"/>
                <a:lumOff val="5491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0947" tIns="395732" rIns="380947" bIns="135128" numCol="1" spcCol="1270" anchor="t" anchorCtr="0">
              <a:noAutofit/>
            </a:bodyPr>
            <a:lstStyle/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1900" kern="1200" dirty="0"/>
                <a:t>Ce biais de perception explique la </a:t>
              </a:r>
              <a:r>
                <a:rPr lang="fr-FR" sz="1900" b="1" i="1" kern="1200" dirty="0"/>
                <a:t>frustration </a:t>
              </a:r>
              <a:r>
                <a:rPr lang="fr-FR" sz="1900" kern="1200" dirty="0"/>
                <a:t>des utilisateurs qui visent des partenaires hors de leur </a:t>
              </a:r>
              <a:r>
                <a:rPr lang="fr-FR" sz="1900" b="1" i="1" kern="1200" dirty="0" err="1"/>
                <a:t>league</a:t>
              </a:r>
              <a:r>
                <a:rPr lang="fr-FR" sz="1900" kern="1200" dirty="0"/>
                <a:t> statistique.</a:t>
              </a:r>
              <a:endParaRPr lang="fr-FR" sz="1900" kern="1200" noProof="0" dirty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6AC49E7-40D8-7EA7-37AE-906733FFFEAB}"/>
                </a:ext>
              </a:extLst>
            </p:cNvPr>
            <p:cNvSpPr/>
            <p:nvPr/>
          </p:nvSpPr>
          <p:spPr>
            <a:xfrm>
              <a:off x="6985885" y="4656424"/>
              <a:ext cx="3435888" cy="560880"/>
            </a:xfrm>
            <a:custGeom>
              <a:avLst/>
              <a:gdLst>
                <a:gd name="csX0" fmla="*/ 0 w 3435888"/>
                <a:gd name="csY0" fmla="*/ 93482 h 560880"/>
                <a:gd name="csX1" fmla="*/ 93482 w 3435888"/>
                <a:gd name="csY1" fmla="*/ 0 h 560880"/>
                <a:gd name="csX2" fmla="*/ 3342406 w 3435888"/>
                <a:gd name="csY2" fmla="*/ 0 h 560880"/>
                <a:gd name="csX3" fmla="*/ 3435888 w 3435888"/>
                <a:gd name="csY3" fmla="*/ 93482 h 560880"/>
                <a:gd name="csX4" fmla="*/ 3435888 w 3435888"/>
                <a:gd name="csY4" fmla="*/ 467398 h 560880"/>
                <a:gd name="csX5" fmla="*/ 3342406 w 3435888"/>
                <a:gd name="csY5" fmla="*/ 560880 h 560880"/>
                <a:gd name="csX6" fmla="*/ 93482 w 3435888"/>
                <a:gd name="csY6" fmla="*/ 560880 h 560880"/>
                <a:gd name="csX7" fmla="*/ 0 w 3435888"/>
                <a:gd name="csY7" fmla="*/ 467398 h 560880"/>
                <a:gd name="csX8" fmla="*/ 0 w 3435888"/>
                <a:gd name="csY8" fmla="*/ 93482 h 560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35888" h="560880">
                  <a:moveTo>
                    <a:pt x="0" y="93482"/>
                  </a:moveTo>
                  <a:cubicBezTo>
                    <a:pt x="0" y="41853"/>
                    <a:pt x="41853" y="0"/>
                    <a:pt x="93482" y="0"/>
                  </a:cubicBezTo>
                  <a:lnTo>
                    <a:pt x="3342406" y="0"/>
                  </a:lnTo>
                  <a:cubicBezTo>
                    <a:pt x="3394035" y="0"/>
                    <a:pt x="3435888" y="41853"/>
                    <a:pt x="3435888" y="93482"/>
                  </a:cubicBezTo>
                  <a:lnTo>
                    <a:pt x="3435888" y="467398"/>
                  </a:lnTo>
                  <a:cubicBezTo>
                    <a:pt x="3435888" y="519027"/>
                    <a:pt x="3394035" y="560880"/>
                    <a:pt x="3342406" y="560880"/>
                  </a:cubicBezTo>
                  <a:lnTo>
                    <a:pt x="93482" y="560880"/>
                  </a:lnTo>
                  <a:cubicBezTo>
                    <a:pt x="41853" y="560880"/>
                    <a:pt x="0" y="519027"/>
                    <a:pt x="0" y="467398"/>
                  </a:cubicBezTo>
                  <a:lnTo>
                    <a:pt x="0" y="9348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-1232511"/>
                <a:satOff val="-12614"/>
                <a:lumOff val="5491"/>
                <a:alphaOff val="0"/>
              </a:schemeClr>
            </a:fillRef>
            <a:effectRef idx="3">
              <a:schemeClr val="accent5">
                <a:hueOff val="-1232511"/>
                <a:satOff val="-12614"/>
                <a:lumOff val="5491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248" tIns="27380" rIns="157248" bIns="2738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fr-FR" sz="1900" b="1" kern="1200" dirty="0"/>
                <a:t>Message</a:t>
              </a:r>
              <a:r>
                <a:rPr lang="en-US" sz="1900" kern="1200" dirty="0"/>
                <a:t> 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985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46FB82-41E4-1427-E627-B6DB9EEF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26" y="521804"/>
            <a:ext cx="7059598" cy="801300"/>
          </a:xfrm>
        </p:spPr>
        <p:txBody>
          <a:bodyPr anchor="b">
            <a:normAutofit/>
          </a:bodyPr>
          <a:lstStyle/>
          <a:p>
            <a:r>
              <a:rPr lang="fr-FR" sz="4400" dirty="0"/>
              <a:t>Conclusion &amp; Valeur Ajoutée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14DEAC-2183-3FC4-0148-83E8E906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86" y="1366630"/>
            <a:ext cx="8527774" cy="5347253"/>
          </a:xfrm>
        </p:spPr>
        <p:txBody>
          <a:bodyPr anchor="t"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fr-FR" sz="2400" b="1" dirty="0">
                <a:latin typeface="+mj-lt"/>
              </a:rPr>
              <a:t>Synthèse</a:t>
            </a:r>
            <a:endParaRPr lang="fr-FR" sz="2400" dirty="0">
              <a:latin typeface="+mj-lt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fr-FR" dirty="0">
                <a:latin typeface="+mj-lt"/>
              </a:rPr>
              <a:t>L'attraction est un filtre binaire physique avant d'être une checklist intellectuelle.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altLang="fr-FR" sz="1000" b="1" dirty="0">
              <a:latin typeface="+mj-lt"/>
            </a:endParaRP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fr-FR" altLang="fr-FR" sz="2400" b="1" dirty="0">
                <a:latin typeface="+mj-lt"/>
              </a:rPr>
              <a:t>Expertise démontrée</a:t>
            </a:r>
            <a:r>
              <a:rPr lang="fr-FR" altLang="fr-FR" sz="2400" dirty="0">
                <a:latin typeface="+mj-lt"/>
              </a:rPr>
              <a:t> :</a:t>
            </a:r>
          </a:p>
          <a:p>
            <a:pPr mar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fr-FR" altLang="fr-FR" dirty="0">
                <a:latin typeface="+mj-lt"/>
              </a:rPr>
              <a:t>Nettoyage de données complexes.</a:t>
            </a:r>
          </a:p>
          <a:p>
            <a:pPr mar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fr-FR" altLang="fr-FR" dirty="0">
                <a:latin typeface="+mj-lt"/>
              </a:rPr>
              <a:t>Modélisation statistique (Régression Logistique).</a:t>
            </a:r>
          </a:p>
          <a:p>
            <a:pPr mar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fr-FR" altLang="fr-FR" dirty="0">
                <a:latin typeface="+mj-lt"/>
              </a:rPr>
              <a:t>Data Storytelling (Radar Charts).</a:t>
            </a:r>
          </a:p>
          <a:p>
            <a:pPr marL="457200" lvl="1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r-FR" altLang="fr-FR" sz="1000" dirty="0">
              <a:latin typeface="+mj-lt"/>
            </a:endParaRP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fr-FR" altLang="fr-FR" sz="2400" b="1" dirty="0">
                <a:latin typeface="+mj-lt"/>
              </a:rPr>
              <a:t>Ouverture</a:t>
            </a:r>
            <a:r>
              <a:rPr lang="fr-FR" altLang="fr-FR" sz="2400" dirty="0">
                <a:latin typeface="+mj-lt"/>
              </a:rPr>
              <a:t> 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fr-FR" altLang="fr-FR" dirty="0">
                <a:latin typeface="+mj-lt"/>
              </a:rPr>
              <a:t>Prêt à appliquer cette rigueur aux enjeux business.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3CB34B-2F8F-4442-91D1-923678282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3000" y="0"/>
            <a:ext cx="3429000" cy="3429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iques financiers sur un écran sombre">
            <a:extLst>
              <a:ext uri="{FF2B5EF4-FFF2-40B4-BE49-F238E27FC236}">
                <a16:creationId xmlns:a16="http://schemas.microsoft.com/office/drawing/2014/main" id="{97A28A59-7ADC-6364-9BEC-DE276E540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02" r="21396" b="-2"/>
          <a:stretch>
            <a:fillRect/>
          </a:stretch>
        </p:blipFill>
        <p:spPr>
          <a:xfrm>
            <a:off x="9101941" y="367932"/>
            <a:ext cx="2749318" cy="2749318"/>
          </a:xfrm>
          <a:custGeom>
            <a:avLst/>
            <a:gdLst/>
            <a:ahLst/>
            <a:cxnLst/>
            <a:rect l="l" t="t" r="r" b="b"/>
            <a:pathLst>
              <a:path w="3375124" h="3375124">
                <a:moveTo>
                  <a:pt x="1687562" y="0"/>
                </a:moveTo>
                <a:cubicBezTo>
                  <a:pt x="2619577" y="0"/>
                  <a:pt x="3375124" y="755547"/>
                  <a:pt x="3375124" y="1687562"/>
                </a:cubicBezTo>
                <a:cubicBezTo>
                  <a:pt x="3375124" y="2619577"/>
                  <a:pt x="2619577" y="3375124"/>
                  <a:pt x="1687562" y="3375124"/>
                </a:cubicBezTo>
                <a:cubicBezTo>
                  <a:pt x="755547" y="3375124"/>
                  <a:pt x="0" y="2619577"/>
                  <a:pt x="0" y="1687562"/>
                </a:cubicBezTo>
                <a:cubicBezTo>
                  <a:pt x="0" y="755547"/>
                  <a:pt x="755547" y="0"/>
                  <a:pt x="1687562" y="0"/>
                </a:cubicBezTo>
                <a:close/>
              </a:path>
            </a:pathLst>
          </a:cu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92AFC398-9263-43B8-98C4-6D97765B8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200" y="3427200"/>
            <a:ext cx="3430800" cy="34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FBEAA65-6795-4110-9B63-CC2BEE665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7754" y="34272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9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27E937-5D99-03BA-0179-45F076A8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16" y="365125"/>
            <a:ext cx="11960770" cy="1325563"/>
          </a:xfrm>
        </p:spPr>
        <p:txBody>
          <a:bodyPr>
            <a:noAutofit/>
          </a:bodyPr>
          <a:lstStyle/>
          <a:p>
            <a:r>
              <a:rPr lang="fr-FR" sz="4400" dirty="0"/>
              <a:t>Des questions sur la méthodologie ou les insights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D5DEAC-21A9-8209-91BF-D7ADCBE54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952" y="4687616"/>
            <a:ext cx="2896124" cy="1592316"/>
          </a:xfrm>
          <a:solidFill>
            <a:schemeClr val="tx1">
              <a:lumMod val="9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180000" tIns="180000"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rgbClr val="7E0042"/>
                </a:solidFill>
                <a:latin typeface="Bazooka" pitchFamily="2" charset="0"/>
                <a:cs typeface="Aharoni" pitchFamily="2" charset="-79"/>
              </a:rPr>
              <a:t>ZAKHER Bassem</a:t>
            </a:r>
          </a:p>
          <a:p>
            <a:pPr marL="0" indent="0" algn="ctr">
              <a:buNone/>
            </a:pPr>
            <a:r>
              <a:rPr lang="fr-FR" sz="2400" i="1" dirty="0">
                <a:hlinkClick r:id="rId2"/>
              </a:rPr>
              <a:t>LinkedIn</a:t>
            </a:r>
            <a:endParaRPr lang="fr-FR" sz="2800" i="1" dirty="0"/>
          </a:p>
          <a:p>
            <a:pPr marL="0" indent="0" algn="ctr">
              <a:buNone/>
            </a:pPr>
            <a:r>
              <a:rPr lang="fr-FR" sz="2400" i="1" dirty="0">
                <a:hlinkClick r:id="rId3"/>
              </a:rPr>
              <a:t>GitHub</a:t>
            </a:r>
            <a:endParaRPr lang="fr-FR" sz="2800" dirty="0"/>
          </a:p>
        </p:txBody>
      </p:sp>
      <p:pic>
        <p:nvPicPr>
          <p:cNvPr id="4" name="Espace réservé du contenu 28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4D162F58-DCEA-752D-8779-BDEFF8DAE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848" y="1927172"/>
            <a:ext cx="7950600" cy="43248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7170" name="Picture 2" descr="Question mark PNG">
            <a:extLst>
              <a:ext uri="{FF2B5EF4-FFF2-40B4-BE49-F238E27FC236}">
                <a16:creationId xmlns:a16="http://schemas.microsoft.com/office/drawing/2014/main" id="{49972847-467C-82D9-3582-A77D6FDE7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9324">
            <a:off x="387139" y="1652757"/>
            <a:ext cx="3247696" cy="324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43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500"/>
                            </p:stCondLst>
                            <p:childTnLst>
                              <p:par>
                                <p:cTn id="3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500"/>
                            </p:stCondLst>
                            <p:childTnLst>
                              <p:par>
                                <p:cTn id="4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</p:bldLst>
  </p:timing>
</p:sld>
</file>

<file path=ppt/theme/theme1.xml><?xml version="1.0" encoding="utf-8"?>
<a:theme xmlns:a="http://schemas.openxmlformats.org/drawingml/2006/main" name="CelebrationVTI">
  <a:themeElements>
    <a:clrScheme name="Custom 25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1274F"/>
      </a:accent1>
      <a:accent2>
        <a:srgbClr val="97446E"/>
      </a:accent2>
      <a:accent3>
        <a:srgbClr val="24BEEE"/>
      </a:accent3>
      <a:accent4>
        <a:srgbClr val="A52B3A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brationVTI" id="{BAD6E4D6-FB5F-472A-BAD2-154760D77BE0}" vid="{59D360FE-6438-46F1-A5A6-11415132A2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307</Words>
  <Application>Microsoft Office PowerPoint</Application>
  <PresentationFormat>Grand écran</PresentationFormat>
  <Paragraphs>46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Bazooka</vt:lpstr>
      <vt:lpstr>Calibri</vt:lpstr>
      <vt:lpstr>Gill Sans Nova</vt:lpstr>
      <vt:lpstr>CelebrationVTI</vt:lpstr>
      <vt:lpstr>Tinder Stratégie :  Le Paradoxe du "Say vs. Do".</vt:lpstr>
      <vt:lpstr>Introduction &amp; Enjeu Business</vt:lpstr>
      <vt:lpstr>Data Engineering :  Fiabiliser l'analyse</vt:lpstr>
      <vt:lpstr>Le Paradoxe "Say vs Do"</vt:lpstr>
      <vt:lpstr>L'Ego Gap</vt:lpstr>
      <vt:lpstr>Conclusion &amp; Valeur Ajoutée</vt:lpstr>
      <vt:lpstr>Des questions sur la méthodologie ou les insights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Bassem ZAKHER</dc:creator>
  <cp:lastModifiedBy>Bassem ZAKHER</cp:lastModifiedBy>
  <cp:revision>5</cp:revision>
  <dcterms:created xsi:type="dcterms:W3CDTF">2026-02-17T09:03:09Z</dcterms:created>
  <dcterms:modified xsi:type="dcterms:W3CDTF">2026-02-17T22:11:50Z</dcterms:modified>
</cp:coreProperties>
</file>